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3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0233F"/>
                </a:solidFill>
                <a:latin typeface="Calibri"/>
              </a:rPr>
              <a:t>Global Quantum Computing Market (US$ Bn)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Quantum Computing Market (US$ Bn)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2033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</c:v>
                </c:pt>
                <c:pt idx="1">
                  <c:v>1.9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7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1E7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023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0233F"/>
                </a:solidFill>
                <a:latin typeface="Calibri"/>
              </a:rPr>
              <a:t>Global AI-in-Education Market (US$ Bn)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AI-in-Education Market (US$ Bn)</c:v>
                </c:pt>
              </c:strCache>
            </c:strRef>
          </c:tx>
          <c:spPr>
            <a:solidFill>
              <a:srgbClr val="1FD1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7.52</c:v>
                </c:pt>
                <c:pt idx="1">
                  <c:v>10.6</c:v>
                </c:pt>
                <c:pt idx="2">
                  <c:v>42.48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7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1E7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0233F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0233F"/>
                </a:solidFill>
                <a:latin typeface="Calibri"/>
              </a:rPr>
              <a:t>Global Quantum Workforce: Supply vs. Projected Need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quantum workforce (professionals)</c:v>
                </c:pt>
              </c:strCache>
            </c:strRef>
          </c:tx>
          <c:spPr>
            <a:solidFill>
              <a:srgbClr val="132A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0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2A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63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D1E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2025 (actual)</c:v>
                  </c:pt>
                  <c:pt idx="1">
                    <c:v>2030 (needed)</c:v>
                  </c:pt>
                  <c:pt idx="2">
                    <c:v>2035 (needed)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16500</c:v>
                </c:pt>
                <c:pt idx="1">
                  <c:v>250000</c:v>
                </c:pt>
                <c:pt idx="2">
                  <c:v>840000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0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7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E1E7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011680"/>
            <a:ext cx="2834640" cy="2834640"/>
          </a:xfrm>
          <a:prstGeom prst="ellipse">
            <a:avLst/>
          </a:prstGeom>
          <a:ln w="15875">
            <a:solidFill>
              <a:srgbClr val="2C45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508760"/>
            <a:ext cx="3840480" cy="3840480"/>
          </a:xfrm>
          <a:prstGeom prst="ellipse">
            <a:avLst/>
          </a:prstGeom>
          <a:ln w="15875">
            <a:solidFill>
              <a:srgbClr val="1F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005840"/>
            <a:ext cx="4846320" cy="4846320"/>
          </a:xfrm>
          <a:prstGeom prst="ellipse">
            <a:avLst/>
          </a:prstGeom>
          <a:ln w="15875">
            <a:solidFill>
              <a:srgbClr val="2C456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981944" y="3346704"/>
            <a:ext cx="164592" cy="164592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6" name="Shape 4"/>
          <p:cNvSpPr/>
          <p:nvPr/>
        </p:nvSpPr>
        <p:spPr>
          <a:xfrm>
            <a:off x="8330318" y="4817693"/>
            <a:ext cx="164592" cy="164592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7" name="Shape 5"/>
          <p:cNvSpPr/>
          <p:nvPr/>
        </p:nvSpPr>
        <p:spPr>
          <a:xfrm>
            <a:off x="8735854" y="1069678"/>
            <a:ext cx="164592" cy="164592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8" name="Shape 6"/>
          <p:cNvSpPr/>
          <p:nvPr/>
        </p:nvSpPr>
        <p:spPr>
          <a:xfrm>
            <a:off x="9518904" y="3300984"/>
            <a:ext cx="256032" cy="256032"/>
          </a:xfrm>
          <a:prstGeom prst="ellipse">
            <a:avLst/>
          </a:prstGeom>
          <a:solidFill>
            <a:srgbClr val="6C6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INTERNAL ROUND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2344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Interactive Quantum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Learning Platform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qubits, superposition and entanglement learnable — visually, interactively, and adaptively for every first-time learner.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39776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40680" y="397764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166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Egreen Quanta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71800" y="48463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0896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5166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X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0680" y="48463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4937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5166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Your Team ID &gt;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VGU  ·  BTech AI &amp; ML  ·  Vivekanand Global University, Jaipur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concepts are powerful — and painfully abstract to teach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5074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is a transformative technology reshaping cryptography, drug discovery, optimization and AI — but education in the field lags far behind industry need. Core ideas like qubits, superposition, entanglement and quantum algorithms are taught through static slides and dense linear-algebra notation, with almost no visual or interactive intuition-building. The result: motivated learners — especially undergraduates outside physics — stall before they ever write a working quantum circuit.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2519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0B1B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434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 gap?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54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1st/2nd-year CS, AI/ML and engineering students who want quantum literacy but lack a physics-heavy foundation, plus faculty who need a ready-made, self-paced lab companion for quantum electives.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06440" y="1371600"/>
            <a:ext cx="28346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71032" y="1536192"/>
            <a:ext cx="201168" cy="201168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490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math, no intuition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71032" y="1874520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Bra-ket notation &amp; probability amplitudes taught before learners ever see a qubit 'move'.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8346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34272" y="1536192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72600" y="1490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static content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34272" y="1874520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and slide decks can't show superposition collapsing or entanglement correlating in real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2953512"/>
            <a:ext cx="28346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1032" y="311810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3072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pace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71032" y="345643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MOOCs push every learner through the same sequence, regardless of where they're actually stuck.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680" y="2953512"/>
            <a:ext cx="28346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34272" y="311810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72600" y="3072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tool barrier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34272" y="345643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/ Cirq assume coding fluency first — a wall for learners who haven't touched Python deeply.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accelerating markets are converging on this idea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 CAGR (2026–33)  ·  Grand View Research</a:t>
            </a:r>
            <a:endParaRPr lang="en-US" sz="1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63640" y="14173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26364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 CAGR (2026–30)  ·  Research and Markets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02920" y="4617720"/>
            <a:ext cx="11185855" cy="1325880"/>
          </a:xfrm>
          <a:prstGeom prst="roundRect">
            <a:avLst>
              <a:gd name="adj" fmla="val 5517"/>
            </a:avLst>
          </a:prstGeom>
          <a:solidFill>
            <a:srgbClr val="0B1B3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475488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sits directly at the intersection: it applies the fastest-growing edtech category (AI-personalized learning) to the fastest-growing deep-tech category (quantum computing) — at the exact moment both are scaling from research into mainstream curricula.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talent gap is the industry's biggest bottleneck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6400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029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QED-C State of the Global Quantum Industry 2026 · The Quantum Insider economic-impact projections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720840" y="141732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30568" y="1527048"/>
            <a:ext cx="47640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830568" y="2048256"/>
            <a:ext cx="476402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applicants for quantum-computing roles lack the required skills (EPJ Quantum Technology, analysis of 3,641 job posts)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20840" y="260604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30568" y="2715768"/>
            <a:ext cx="47640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830568" y="3236976"/>
            <a:ext cx="476402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job openings can currently be filled with qualified candidates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379476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30568" y="3904488"/>
            <a:ext cx="47640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$181,491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830568" y="4425696"/>
            <a:ext cx="476402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quantum-computing salary in the US (EPJ Quantum Technology)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OPPORTUNITY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lines up with national quantum policy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1527048"/>
            <a:ext cx="335676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₹6,003.65 Cr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240280"/>
            <a:ext cx="335676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Quantum Mission budget, 2023–2031 (Dept. of Science &amp; Technology, Govt. of India)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7738" y="141732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17466" y="1527048"/>
            <a:ext cx="335676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$310 Bn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17466" y="2240280"/>
            <a:ext cx="335676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cumulative value quantum tech could add to the Indian economy by 2030 (NASSCOM)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12557" y="141732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2285" y="1527048"/>
            <a:ext cx="335676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+ DST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2285" y="2240280"/>
            <a:ext cx="335676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a dedicated undergraduate quantum-computing curriculum in Dec 2024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063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momentum, translated into a classroom-ready opportunity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10637215" cy="0"/>
          </a:xfrm>
          <a:prstGeom prst="line">
            <a:avLst/>
          </a:prstGeom>
          <a:noFill/>
          <a:ln w="25400">
            <a:solidFill>
              <a:srgbClr val="E1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895344"/>
            <a:ext cx="164592" cy="164592"/>
          </a:xfrm>
          <a:prstGeom prst="ellipse">
            <a:avLst/>
          </a:prstGeom>
          <a:solidFill>
            <a:srgbClr val="6C6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480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NQM approved — 4 Thematic Hubs, 17 states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40682" y="3895344"/>
            <a:ext cx="164592" cy="164592"/>
          </a:xfrm>
          <a:prstGeom prst="ellipse">
            <a:avLst/>
          </a:prstGeom>
          <a:solidFill>
            <a:srgbClr val="1FD1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7098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97098" y="4480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+ DST launch UG quantum curriculum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86421" y="3895344"/>
            <a:ext cx="164592" cy="164592"/>
          </a:xfrm>
          <a:prstGeom prst="ellipse">
            <a:avLst/>
          </a:prstGeom>
          <a:solidFill>
            <a:srgbClr val="6C6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42837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42837" y="4480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scale research across 43+ institutions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332159" y="3895344"/>
            <a:ext cx="164592" cy="164592"/>
          </a:xfrm>
          <a:prstGeom prst="ellipse">
            <a:avLst/>
          </a:prstGeom>
          <a:solidFill>
            <a:srgbClr val="1FD1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62695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62695" y="4480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workforce &amp; hub targets mature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035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PSA / DST — National Quantum Mission overview  ·  BW Businessworld — NASSCOM quantum economic-impact estimate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30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tutor that adapts explanations, pace and difficulty to each learner's demonstrated understanding — not a fixed video sequence.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30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drag-and-drop quantum circuit builder that renders state evolution live on a Bloch sphere and probability bars — superposition and entanglement become something you *see*, not just calculate.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154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30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 progression ladder: qubits → superposition → entanglement → real algorithms (Deutsch–Jozsa, Grover, Shor basics) — each unlocked by demonstrated mastery, not time spent.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0233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buSzPct val="100000"/>
              <a:buChar char="●"/>
            </a:pPr>
            <a:r>
              <a:rPr lang="en-US" sz="130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in-browser with zero setup; the provided dataset seeds question banks, misconception patterns and difficulty calibration from day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0" y="1645920"/>
            <a:ext cx="1417320" cy="1417320"/>
          </a:xfrm>
          <a:prstGeom prst="line">
            <a:avLst/>
          </a:prstGeom>
          <a:noFill/>
          <a:ln w="19050">
            <a:solidFill>
              <a:srgbClr val="AAB8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9692640" y="3063240"/>
            <a:ext cx="1417320" cy="1417320"/>
          </a:xfrm>
          <a:prstGeom prst="line">
            <a:avLst/>
          </a:prstGeom>
          <a:noFill/>
          <a:ln w="19050">
            <a:solidFill>
              <a:srgbClr val="AAB8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8275320" y="3063240"/>
            <a:ext cx="1417320" cy="1417320"/>
          </a:xfrm>
          <a:prstGeom prst="line">
            <a:avLst/>
          </a:prstGeom>
          <a:noFill/>
          <a:ln w="19050">
            <a:solidFill>
              <a:srgbClr val="AAB8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8275320" y="1645920"/>
            <a:ext cx="1417320" cy="1417320"/>
          </a:xfrm>
          <a:prstGeom prst="line">
            <a:avLst/>
          </a:prstGeom>
          <a:noFill/>
          <a:ln w="19050">
            <a:solidFill>
              <a:srgbClr val="AAB8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06840" y="1353312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132A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135331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424160" y="2770632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24160" y="277063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4187952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1FD1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06840" y="418795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89520" y="2770632"/>
            <a:ext cx="1371600" cy="585216"/>
          </a:xfrm>
          <a:prstGeom prst="roundRect">
            <a:avLst>
              <a:gd name="adj" fmla="val 50000"/>
            </a:avLst>
          </a:prstGeom>
          <a:solidFill>
            <a:srgbClr val="1E9E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89520" y="277063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adaptive loop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built on mature open-source quantum tooling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09728" cy="777240"/>
          </a:xfrm>
          <a:prstGeom prst="rect">
            <a:avLst/>
          </a:prstGeom>
          <a:solidFill>
            <a:srgbClr val="1FD1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50876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React-based circuit builder, drag-and-drop gates, live Bloch-sphere &amp; probability visualizer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6704" y="2194560"/>
            <a:ext cx="18288" cy="256032"/>
          </a:xfrm>
          <a:prstGeom prst="line">
            <a:avLst/>
          </a:prstGeom>
          <a:noFill/>
          <a:ln w="19050">
            <a:solidFill>
              <a:srgbClr val="9AAAC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450592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50592"/>
            <a:ext cx="109728" cy="7772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5420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Engine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42032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adaptive tutor — detects misconceptions, generates hints, sequences difficulty per learner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6704" y="3227832"/>
            <a:ext cx="18288" cy="256032"/>
          </a:xfrm>
          <a:prstGeom prst="line">
            <a:avLst/>
          </a:prstGeom>
          <a:noFill/>
          <a:ln w="19050">
            <a:solidFill>
              <a:srgbClr val="9AAAC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3483864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83864"/>
            <a:ext cx="109728" cy="77724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57530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Backend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575304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/ Cirq / PennyLane state-vector simulators execute learner circuits and return real results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6704" y="4261104"/>
            <a:ext cx="18288" cy="256032"/>
          </a:xfrm>
          <a:prstGeom prst="line">
            <a:avLst/>
          </a:prstGeom>
          <a:noFill/>
          <a:ln w="19050">
            <a:solidFill>
              <a:srgbClr val="9AAAC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4517136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517136"/>
            <a:ext cx="10972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6085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Layer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608576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dataset seeds question banks; learner-progress model drives adaptive difficulty &amp; reporting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577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 stack: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5596128"/>
            <a:ext cx="766267" cy="32918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65960" y="5596128"/>
            <a:ext cx="7662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96819" y="5596128"/>
            <a:ext cx="2382012" cy="32918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96819" y="5596128"/>
            <a:ext cx="2382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/ Cirq / PennyLane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3423" y="5596128"/>
            <a:ext cx="681228" cy="32918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43423" y="5596128"/>
            <a:ext cx="681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89243" y="5596128"/>
            <a:ext cx="851306" cy="32918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89243" y="5596128"/>
            <a:ext cx="851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05142" y="5596128"/>
            <a:ext cx="851306" cy="32918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05142" y="5596128"/>
            <a:ext cx="851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21040" y="5596128"/>
            <a:ext cx="1106424" cy="329184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1040" y="5596128"/>
            <a:ext cx="1106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mature tools, with clear-eyed risk mitigation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989320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11680" y="15544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9E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11680" y="15544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5179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mature, open-source quantum SDKs (Qiskit, Cirq, PennyLane) — no novel hardware or unproven infrastructure required.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5715000" cy="0"/>
          </a:xfrm>
          <a:prstGeom prst="line">
            <a:avLst/>
          </a:prstGeom>
          <a:noFill/>
          <a:ln w="9525">
            <a:solidFill>
              <a:srgbClr val="E1E7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7744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11680" y="23957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11680" y="23957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3591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compute + LLM API costs are the main variable; kept low by running lightweight local simulation for circuits under ~15 qubits.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5715000" cy="0"/>
          </a:xfrm>
          <a:prstGeom prst="line">
            <a:avLst/>
          </a:prstGeom>
          <a:noFill/>
          <a:ln w="9525">
            <a:solidFill>
              <a:srgbClr val="E1E7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1868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0" y="323697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9E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011680" y="32369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32004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well-documented and still-widening talent gap, plus a fresh AICTE-mandated curriculum, create a ready audience.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86784"/>
            <a:ext cx="5715000" cy="0"/>
          </a:xfrm>
          <a:prstGeom prst="line">
            <a:avLst/>
          </a:prstGeom>
          <a:noFill/>
          <a:ln w="9525">
            <a:solidFill>
              <a:srgbClr val="E1E7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059936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011680" y="40782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011680" y="40782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0416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faculty buy-in; mitigated by piloting with a quantum-curious cohort and aligning content to the AICTE syllabus.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1417320"/>
            <a:ext cx="492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1801368"/>
            <a:ext cx="492221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1874520"/>
            <a:ext cx="46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029968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UI overwhelms first-time learners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313432"/>
            <a:ext cx="4647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Progressive disclosure + a guided onboarding path before free exploration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2843784"/>
            <a:ext cx="492221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2916936"/>
            <a:ext cx="46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072384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gives incorrect quantum explanations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355848"/>
            <a:ext cx="4647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Retrieval-grounded responses tied to an expert-reviewed content library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3886200"/>
            <a:ext cx="492221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03720" y="3959352"/>
            <a:ext cx="4647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4114800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costs rise with scale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4398264"/>
            <a:ext cx="4647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 lightweight simulation by default; cloud only for larger circuits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tools serve developers well — beginners are underserved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5855" cy="594360"/>
          </a:xfrm>
          <a:prstGeom prst="roundRect">
            <a:avLst>
              <a:gd name="adj" fmla="val 7692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88920" y="146304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68891" y="146304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interactive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348862" y="146304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28833" y="146304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908804" y="1463040"/>
            <a:ext cx="17799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AICTE-curriculum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111858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57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/ IBM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Learning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5740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8891" y="205740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48862" y="205740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28833" y="205740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908804" y="205740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11185855" cy="777240"/>
          </a:xfrm>
          <a:prstGeom prst="rect">
            <a:avLst/>
          </a:prstGeom>
          <a:solidFill>
            <a:srgbClr val="FBFCFE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834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Brilliant.org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28346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68891" y="28346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48862" y="28346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28833" y="28346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908804" y="283464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3611880"/>
            <a:ext cx="111858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/ edX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courses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361188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68891" y="361188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48862" y="361188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128833" y="361188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908804" y="361188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" y="4389120"/>
            <a:ext cx="11185855" cy="777240"/>
          </a:xfrm>
          <a:prstGeom prst="rect">
            <a:avLst/>
          </a:prstGeom>
          <a:solidFill>
            <a:srgbClr val="EAF0FB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389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788920" y="438912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568891" y="438912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348862" y="438912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128833" y="438912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908804" y="4389120"/>
            <a:ext cx="17799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classroom pilot to a national skilling pipeline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81912"/>
            <a:ext cx="201168" cy="201168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53619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920240"/>
            <a:ext cx="512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concept mastery through visual feedback; fewer learners dropping out of advanced quantum electives after a rough first month.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3008" y="141732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600" y="1581912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35928" y="153619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97600" y="1920240"/>
            <a:ext cx="512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into NQM's workforce goals — helping close the gap where 75% of applicants currently lack required quantum skills.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3227832"/>
            <a:ext cx="201168" cy="201168"/>
          </a:xfrm>
          <a:prstGeom prst="ellipse">
            <a:avLst/>
          </a:prstGeom>
          <a:solidFill>
            <a:srgbClr val="1E9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18211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566160"/>
            <a:ext cx="512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entry point broadens participation beyond physics majors — including AI/ML, CS and even non-CS learners who are curious.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306324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7600" y="322783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35928" y="3182112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3566160"/>
            <a:ext cx="512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the host institution among early adopters of AICTE-aligned, hands-on quantum pedagogy ahead of curriculum mandates.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11185855" cy="1463040"/>
          </a:xfrm>
          <a:prstGeom prst="roundRect">
            <a:avLst>
              <a:gd name="adj" fmla="val 5000"/>
            </a:avLst>
          </a:prstGeom>
          <a:solidFill>
            <a:srgbClr val="0B1B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617720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89204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1st/2nd-year BTech AI/ML, CS &amp; engineering students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292498" y="4617720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92498" y="489204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running quantum electives, needing a lab companion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899197" y="4617720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SCALE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899197" y="4892040"/>
            <a:ext cx="34238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Single-department cohort first, then institution-wide rollout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behind every figure in this deck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08760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9656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Market Size &amp; Share Report, 2026–2033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3008" y="1417320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7600" y="1508760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Markets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97600" y="1819656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 Market Report,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33472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Insider / QED-C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Global Quantum Industry 2026 — workforce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2542032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7600" y="2633472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EPJ Quantum Technology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97600" y="2944368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Quantum-computing jobs &amp; skills analysis (3,641 postings)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758184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/ PSA, Government of India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4069080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Quantum Mission — overview &amp; budget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3008" y="3666744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97600" y="3758184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 (via BW Businessworld)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97600" y="4069080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technology economic-impact estimate for India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91456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4882896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/ Qiskit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5193792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Summer School &amp; Fall Fest 2025 participation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3008" y="4791456"/>
            <a:ext cx="54557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97600" y="4882896"/>
            <a:ext cx="512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/ DST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5193792"/>
            <a:ext cx="512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quantum-computing curriculum, introduced Dec 2024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  ·  AI-Based Interactive Quantum Algorithm Learning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011680"/>
            <a:ext cx="2834640" cy="2834640"/>
          </a:xfrm>
          <a:prstGeom prst="ellipse">
            <a:avLst/>
          </a:prstGeom>
          <a:ln w="15875">
            <a:solidFill>
              <a:srgbClr val="2C45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508760"/>
            <a:ext cx="3840480" cy="3840480"/>
          </a:xfrm>
          <a:prstGeom prst="ellipse">
            <a:avLst/>
          </a:prstGeom>
          <a:ln w="15875">
            <a:solidFill>
              <a:srgbClr val="1F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005840"/>
            <a:ext cx="4846320" cy="4846320"/>
          </a:xfrm>
          <a:prstGeom prst="ellipse">
            <a:avLst/>
          </a:prstGeom>
          <a:ln w="15875">
            <a:solidFill>
              <a:srgbClr val="2C456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981944" y="3346704"/>
            <a:ext cx="164592" cy="164592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6" name="Shape 4"/>
          <p:cNvSpPr/>
          <p:nvPr/>
        </p:nvSpPr>
        <p:spPr>
          <a:xfrm>
            <a:off x="8330318" y="4817693"/>
            <a:ext cx="164592" cy="164592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7" name="Shape 5"/>
          <p:cNvSpPr/>
          <p:nvPr/>
        </p:nvSpPr>
        <p:spPr>
          <a:xfrm>
            <a:off x="8735854" y="1069678"/>
            <a:ext cx="164592" cy="164592"/>
          </a:xfrm>
          <a:prstGeom prst="ellipse">
            <a:avLst/>
          </a:prstGeom>
          <a:solidFill>
            <a:srgbClr val="1FD1E0"/>
          </a:solidFill>
          <a:ln/>
        </p:spPr>
      </p:sp>
      <p:sp>
        <p:nvSpPr>
          <p:cNvPr id="8" name="Shape 6"/>
          <p:cNvSpPr/>
          <p:nvPr/>
        </p:nvSpPr>
        <p:spPr>
          <a:xfrm>
            <a:off x="9518904" y="3300984"/>
            <a:ext cx="256032" cy="256032"/>
          </a:xfrm>
          <a:prstGeom prst="ellipse">
            <a:avLst/>
          </a:prstGeom>
          <a:solidFill>
            <a:srgbClr val="6C6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INTERNAL ROUND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240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200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and feedback.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4114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40680" y="4114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32A4C"/>
          </a:solidFill>
          <a:ln w="12700">
            <a:solidFill>
              <a:srgbClr val="2338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Egreen Quanta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VGU  ·  BTech AI &amp; ML  ·  Vivekanand Global University, Jaipur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2026-09-08T11:37:57Z</dcterms:created>
  <dcterms:modified xsi:type="dcterms:W3CDTF">2026-09-08T11:37:57Z</dcterms:modified>
</cp:coreProperties>
</file>